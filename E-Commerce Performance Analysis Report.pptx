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f387319-18e4-a8a6-12db-3564c5318e0b}">
          <p14:sldIdLst>
            <p14:sldId id="256"/>
          </p14:sldIdLst>
        </p14:section>
        <p14:section name="Default-1" id="{d67f3842-1915-45a0-bff5-c4ebf45942e4}">
          <p14:sldIdLst>
            <p14:sldId id="257"/>
            <p14:sldId id="258"/>
          </p14:sldIdLst>
        </p14:section>
        <p14:section name="Page 1: Executive Performance" id="{b236867b-3899-4f25-8be1-1cfe45868e83}">
          <p14:sldIdLst>
            <p14:sldId id="259"/>
            <p14:sldId id="260"/>
          </p14:sldIdLst>
        </p14:section>
        <p14:section name="Page 2: Product &amp; Customer" id="{3d37703e-59f9-c842-eaf4-d4e0d7ad2fbf}">
          <p14:sldIdLst>
            <p14:sldId id="261"/>
            <p14:sldId id="262"/>
          </p14:sldIdLst>
        </p14:section>
        <p14:section name="Page 3: Returns &amp; Operations" id="{cb783ddf-b097-4d8e-f820-a5323356cdab}">
          <p14:sldIdLst>
            <p14:sldId id="263"/>
            <p14:sldId id="264"/>
          </p14:sldIdLst>
        </p14:section>
        <p14:section name="Page 4: Inventory" id="{b46ff9dc-3cb6-bfb6-2b24-53b542defe81}">
          <p14:sldIdLst>
            <p14:sldId id="265"/>
            <p14:sldId id="266"/>
          </p14:sldIdLst>
        </p14:section>
        <p14:section name="Business scenarios" id="{ca18c59a-4567-2a66-81c3-6456548dde75}">
          <p14:sldIdLst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% by category</c:v>
                </c:pt>
              </c:strCache>
            </c:strRef>
          </c:tx>
          <c:spPr>
            <a:solidFill>
              <a:srgbClr val="2B5D47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43326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Beauty</c:v>
                </c:pt>
                <c:pt idx="1">
                  <c:v>Fashion</c:v>
                </c:pt>
                <c:pt idx="2">
                  <c:v>Sports &amp; Outdoors</c:v>
                </c:pt>
                <c:pt idx="3">
                  <c:v>Home &amp; Living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46.34</c:v>
                </c:pt>
                <c:pt idx="1">
                  <c:v>25.31</c:v>
                </c:pt>
                <c:pt idx="2">
                  <c:v>22.22</c:v>
                </c:pt>
                <c:pt idx="3">
                  <c:v>19.2</c:v>
                </c:pt>
                <c:pt idx="4">
                  <c:v>2.83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43326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e73adfc-eae9-4b21-870f-da1f63318bc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Campaign contribution margin %</c:v>
                </c:pt>
              </c:strCache>
            </c:strRef>
          </c:tx>
          <c:spPr>
            <a:solidFill>
              <a:srgbClr val="2B5D4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B5D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5D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5D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5D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5D4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43326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Loyalty 10%</c:v>
                </c:pt>
                <c:pt idx="1">
                  <c:v>VIP Private Sale 12%</c:v>
                </c:pt>
                <c:pt idx="2">
                  <c:v>Summer Event 15%</c:v>
                </c:pt>
                <c:pt idx="3">
                  <c:v>Holiday Event 20%</c:v>
                </c:pt>
                <c:pt idx="4">
                  <c:v>Weekend Flash 25%</c:v>
                </c:pt>
                <c:pt idx="5">
                  <c:v>Clearance 35%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26.19</c:v>
                </c:pt>
                <c:pt idx="1">
                  <c:v>22.3</c:v>
                </c:pt>
                <c:pt idx="2">
                  <c:v>19.86</c:v>
                </c:pt>
                <c:pt idx="3">
                  <c:v>7.65</c:v>
                </c:pt>
                <c:pt idx="4">
                  <c:v>1.39</c:v>
                </c:pt>
                <c:pt idx="5">
                  <c:v>-11.57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43326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-26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3872998-57b7-4e7b-954a-7788bb993df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Returned units by reason</c:v>
                </c:pt>
              </c:strCache>
            </c:strRef>
          </c:tx>
          <c:spPr>
            <a:solidFill>
              <a:srgbClr val="2B5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43326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Changed mind</c:v>
                </c:pt>
                <c:pt idx="1">
                  <c:v>Size or fit issue</c:v>
                </c:pt>
                <c:pt idx="2">
                  <c:v>Not as described</c:v>
                </c:pt>
                <c:pt idx="3">
                  <c:v>Defective product</c:v>
                </c:pt>
                <c:pt idx="4">
                  <c:v>Damaged in transit</c:v>
                </c:pt>
                <c:pt idx="5">
                  <c:v>Arrived too late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292</c:v>
                </c:pt>
                <c:pt idx="1">
                  <c:v>271</c:v>
                </c:pt>
                <c:pt idx="2">
                  <c:v>183</c:v>
                </c:pt>
                <c:pt idx="3">
                  <c:v>134</c:v>
                </c:pt>
                <c:pt idx="4">
                  <c:v>130</c:v>
                </c:pt>
                <c:pt idx="5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43326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1d0f1af-0204-45af-bd60-d17d10fb0e1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Lost sales value by category (€)</c:v>
                </c:pt>
              </c:strCache>
            </c:strRef>
          </c:tx>
          <c:spPr>
            <a:solidFill>
              <a:srgbClr val="2B5D47"/>
            </a:solidFill>
            <a:effectLst/>
          </c:spPr>
          <c:invertIfNegative val="0"/>
          <c:dLbls>
            <c:numFmt formatCode="&quot;€&quot;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43326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Fashion</c:v>
                </c:pt>
                <c:pt idx="2">
                  <c:v>Beauty</c:v>
                </c:pt>
                <c:pt idx="3">
                  <c:v>Sports &amp; Outdoors</c:v>
                </c:pt>
                <c:pt idx="4">
                  <c:v>Home &amp; Living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18691.67</c:v>
                </c:pt>
                <c:pt idx="1">
                  <c:v>5565.23</c:v>
                </c:pt>
                <c:pt idx="2">
                  <c:v>4896.21</c:v>
                </c:pt>
                <c:pt idx="3">
                  <c:v>3943.26</c:v>
                </c:pt>
                <c:pt idx="4">
                  <c:v>3618.6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43326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0036373-b51b-4534-b47f-03192233fee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D"/>
                </a:solidFill>
              </a:rPr>
              <a:t>E-Commerce Performance Analysis  |  Samuel Sholademi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DASHBOARD REPORT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Performance &amp; Profitability Analysis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Page-by-page findings, the business questions each chart answers, and what it means for each stakeholder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Prepared by Mathal Analytical Team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5280" y="118872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2B5D47"/>
          </a:solidFill>
          <a:ln w="12700">
            <a:solidFill>
              <a:srgbClr val="2B5D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0" y="129844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€640.42K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Net sales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246888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2B5D47"/>
          </a:solidFill>
          <a:ln w="12700">
            <a:solidFill>
              <a:srgbClr val="2B5D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257860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19.42%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1089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Contribution margin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374904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2B5D47"/>
          </a:solidFill>
          <a:ln w="12700">
            <a:solidFill>
              <a:srgbClr val="2B5D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385876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10.04%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389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Return 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502920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2B5D47"/>
          </a:solidFill>
          <a:ln w="12700">
            <a:solidFill>
              <a:srgbClr val="2B5D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0" y="513892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€36.71K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56692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Lost sales from stock-outs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 growing business with healthy headline margin, but profit leaks in promotions, returns and stock-outs</a:t>
            </a:r>
            <a:endParaRPr lang="en-US" sz="1500" dirty="0"/>
          </a:p>
        </p:txBody>
      </p:sp>
      <p:sp>
        <p:nvSpPr>
          <p:cNvPr id="4" name="KPI card 1"/>
          <p:cNvSpPr/>
          <p:nvPr/>
        </p:nvSpPr>
        <p:spPr>
          <a:xfrm>
            <a:off x="548640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 value 1"/>
          <p:cNvSpPr txBox="1"/>
          <p:nvPr/>
        </p:nvSpPr>
        <p:spPr>
          <a:xfrm>
            <a:off x="548640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€640.42K</a:t>
            </a:r>
            <a:endParaRPr lang="en-US" sz="2600" dirty="0"/>
          </a:p>
        </p:txBody>
      </p:sp>
      <p:sp>
        <p:nvSpPr>
          <p:cNvPr id="6" name="KPI label 1"/>
          <p:cNvSpPr txBox="1"/>
          <p:nvPr/>
        </p:nvSpPr>
        <p:spPr>
          <a:xfrm>
            <a:off x="548640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Net sales</a:t>
            </a:r>
            <a:endParaRPr lang="en-US" sz="1200" dirty="0"/>
          </a:p>
        </p:txBody>
      </p:sp>
      <p:sp>
        <p:nvSpPr>
          <p:cNvPr id="7" name="KPI card 2"/>
          <p:cNvSpPr/>
          <p:nvPr/>
        </p:nvSpPr>
        <p:spPr>
          <a:xfrm>
            <a:off x="2798064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PI value 2"/>
          <p:cNvSpPr txBox="1"/>
          <p:nvPr/>
        </p:nvSpPr>
        <p:spPr>
          <a:xfrm>
            <a:off x="2798064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€127.65K</a:t>
            </a:r>
            <a:endParaRPr lang="en-US" sz="2600" dirty="0"/>
          </a:p>
        </p:txBody>
      </p:sp>
      <p:sp>
        <p:nvSpPr>
          <p:cNvPr id="9" name="KPI label 2"/>
          <p:cNvSpPr txBox="1"/>
          <p:nvPr/>
        </p:nvSpPr>
        <p:spPr>
          <a:xfrm>
            <a:off x="2798064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Contribution margin</a:t>
            </a:r>
            <a:endParaRPr lang="en-US" sz="1200" dirty="0"/>
          </a:p>
        </p:txBody>
      </p:sp>
      <p:sp>
        <p:nvSpPr>
          <p:cNvPr id="10" name="KPI card 3"/>
          <p:cNvSpPr/>
          <p:nvPr/>
        </p:nvSpPr>
        <p:spPr>
          <a:xfrm>
            <a:off x="5047488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PI value 3"/>
          <p:cNvSpPr txBox="1"/>
          <p:nvPr/>
        </p:nvSpPr>
        <p:spPr>
          <a:xfrm>
            <a:off x="5047488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5,873</a:t>
            </a:r>
            <a:endParaRPr lang="en-US" sz="2600" dirty="0"/>
          </a:p>
        </p:txBody>
      </p:sp>
      <p:sp>
        <p:nvSpPr>
          <p:cNvPr id="12" name="KPI label 3"/>
          <p:cNvSpPr txBox="1"/>
          <p:nvPr/>
        </p:nvSpPr>
        <p:spPr>
          <a:xfrm>
            <a:off x="5047488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Orders</a:t>
            </a:r>
            <a:endParaRPr lang="en-US" sz="1200" dirty="0"/>
          </a:p>
        </p:txBody>
      </p:sp>
      <p:sp>
        <p:nvSpPr>
          <p:cNvPr id="13" name="KPI card 4"/>
          <p:cNvSpPr/>
          <p:nvPr/>
        </p:nvSpPr>
        <p:spPr>
          <a:xfrm>
            <a:off x="7296912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PI value 4"/>
          <p:cNvSpPr txBox="1"/>
          <p:nvPr/>
        </p:nvSpPr>
        <p:spPr>
          <a:xfrm>
            <a:off x="7296912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€109.05</a:t>
            </a:r>
            <a:endParaRPr lang="en-US" sz="2600" dirty="0"/>
          </a:p>
        </p:txBody>
      </p:sp>
      <p:sp>
        <p:nvSpPr>
          <p:cNvPr id="15" name="KPI label 4"/>
          <p:cNvSpPr txBox="1"/>
          <p:nvPr/>
        </p:nvSpPr>
        <p:spPr>
          <a:xfrm>
            <a:off x="7296912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Average order value</a:t>
            </a:r>
            <a:endParaRPr lang="en-US" sz="1200" dirty="0"/>
          </a:p>
        </p:txBody>
      </p:sp>
      <p:sp>
        <p:nvSpPr>
          <p:cNvPr id="16" name="KPI card 5"/>
          <p:cNvSpPr/>
          <p:nvPr/>
        </p:nvSpPr>
        <p:spPr>
          <a:xfrm>
            <a:off x="9546336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KPI value 5"/>
          <p:cNvSpPr txBox="1"/>
          <p:nvPr/>
        </p:nvSpPr>
        <p:spPr>
          <a:xfrm>
            <a:off x="9546336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19.42%</a:t>
            </a:r>
            <a:endParaRPr lang="en-US" sz="2600" dirty="0"/>
          </a:p>
        </p:txBody>
      </p:sp>
      <p:sp>
        <p:nvSpPr>
          <p:cNvPr id="18" name="KPI label 5"/>
          <p:cNvSpPr txBox="1"/>
          <p:nvPr/>
        </p:nvSpPr>
        <p:spPr>
          <a:xfrm>
            <a:off x="9546336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Margin 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35661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7490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real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43484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Quarterly sales climbed through 2025 Q3 and margin % trended up. Beauty and Fashion carry the margin.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2743200"/>
            <a:ext cx="35661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0175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7490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profit leaks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43484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Deep-discount campaigns, a €102.90K return loss, and €36.71K of sales lost to stock-outs.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2743200"/>
            <a:ext cx="35661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0175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7490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is the pressure point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43484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2.83% margin, large return loss, and half of all lost sales value.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each dashboard page is for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Four pages, four audiences, each tied to decisions they own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15184" cy="4663440"/>
          </a:xfrm>
          <a:prstGeom prst="roundRect">
            <a:avLst>
              <a:gd name="adj" fmla="val 34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15798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Performance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Primary audience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15798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CEO, CFO, Regional heads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43484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Decisions supported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09160"/>
            <a:ext cx="215798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Where to invest and which categories and markets to grow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64992" y="1508760"/>
            <a:ext cx="2615184" cy="4663440"/>
          </a:xfrm>
          <a:prstGeom prst="roundRect">
            <a:avLst>
              <a:gd name="adj" fmla="val 34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17373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93592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468880"/>
            <a:ext cx="215798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Customer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1546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Primary audience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3429000"/>
            <a:ext cx="215798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Marketing, Merchandising, Pricing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443484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Decisions supported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93592" y="4709160"/>
            <a:ext cx="215798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Which campaigns and products to keep, reprice or retire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81344" y="1508760"/>
            <a:ext cx="2615184" cy="4663440"/>
          </a:xfrm>
          <a:prstGeom prst="roundRect">
            <a:avLst>
              <a:gd name="adj" fmla="val 34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17373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9944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2468880"/>
            <a:ext cx="215798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&amp; Operations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31546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Primary audience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9944" y="3429000"/>
            <a:ext cx="215798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Operations, Customer Experience, Channel managers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9944" y="443484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Decisions supported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4709160"/>
            <a:ext cx="215798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to cut return loss and choose fulfilment models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97696" y="1508760"/>
            <a:ext cx="2615184" cy="4663440"/>
          </a:xfrm>
          <a:prstGeom prst="roundRect">
            <a:avLst>
              <a:gd name="adj" fmla="val 34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26296" y="17373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26296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2468880"/>
            <a:ext cx="215798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226296" y="315468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Primary audience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3429000"/>
            <a:ext cx="215798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Inventory planners, Procurement, Category managers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226296" y="443484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Decisions supported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226296" y="4709160"/>
            <a:ext cx="215798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to restock first to protect revenue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Page 1: Executive Performance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Sales have grown steadily, but profit quality depends on category and region mix</a:t>
            </a:r>
            <a:endParaRPr lang="en-US" sz="1500" dirty="0"/>
          </a:p>
        </p:txBody>
      </p:sp>
      <p:sp>
        <p:nvSpPr>
          <p:cNvPr id="4" name="KPI card 1"/>
          <p:cNvSpPr/>
          <p:nvPr/>
        </p:nvSpPr>
        <p:spPr>
          <a:xfrm>
            <a:off x="548640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 value 1"/>
          <p:cNvSpPr txBox="1"/>
          <p:nvPr/>
        </p:nvSpPr>
        <p:spPr>
          <a:xfrm>
            <a:off x="548640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€640.42K</a:t>
            </a:r>
            <a:endParaRPr lang="en-US" sz="2600" dirty="0"/>
          </a:p>
        </p:txBody>
      </p:sp>
      <p:sp>
        <p:nvSpPr>
          <p:cNvPr id="6" name="KPI label 1"/>
          <p:cNvSpPr txBox="1"/>
          <p:nvPr/>
        </p:nvSpPr>
        <p:spPr>
          <a:xfrm>
            <a:off x="548640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Net sales</a:t>
            </a:r>
            <a:endParaRPr lang="en-US" sz="1200" dirty="0"/>
          </a:p>
        </p:txBody>
      </p:sp>
      <p:sp>
        <p:nvSpPr>
          <p:cNvPr id="7" name="KPI card 2"/>
          <p:cNvSpPr/>
          <p:nvPr/>
        </p:nvSpPr>
        <p:spPr>
          <a:xfrm>
            <a:off x="2798064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PI value 2"/>
          <p:cNvSpPr txBox="1"/>
          <p:nvPr/>
        </p:nvSpPr>
        <p:spPr>
          <a:xfrm>
            <a:off x="2798064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€127.65K</a:t>
            </a:r>
            <a:endParaRPr lang="en-US" sz="2600" dirty="0"/>
          </a:p>
        </p:txBody>
      </p:sp>
      <p:sp>
        <p:nvSpPr>
          <p:cNvPr id="9" name="KPI label 2"/>
          <p:cNvSpPr txBox="1"/>
          <p:nvPr/>
        </p:nvSpPr>
        <p:spPr>
          <a:xfrm>
            <a:off x="2798064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Contribution margin</a:t>
            </a:r>
            <a:endParaRPr lang="en-US" sz="1200" dirty="0"/>
          </a:p>
        </p:txBody>
      </p:sp>
      <p:sp>
        <p:nvSpPr>
          <p:cNvPr id="10" name="KPI card 3"/>
          <p:cNvSpPr/>
          <p:nvPr/>
        </p:nvSpPr>
        <p:spPr>
          <a:xfrm>
            <a:off x="5047488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PI value 3"/>
          <p:cNvSpPr txBox="1"/>
          <p:nvPr/>
        </p:nvSpPr>
        <p:spPr>
          <a:xfrm>
            <a:off x="5047488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19.42%</a:t>
            </a:r>
            <a:endParaRPr lang="en-US" sz="2600" dirty="0"/>
          </a:p>
        </p:txBody>
      </p:sp>
      <p:sp>
        <p:nvSpPr>
          <p:cNvPr id="12" name="KPI label 3"/>
          <p:cNvSpPr txBox="1"/>
          <p:nvPr/>
        </p:nvSpPr>
        <p:spPr>
          <a:xfrm>
            <a:off x="5047488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Contribution margin %</a:t>
            </a:r>
            <a:endParaRPr lang="en-US" sz="1200" dirty="0"/>
          </a:p>
        </p:txBody>
      </p:sp>
      <p:sp>
        <p:nvSpPr>
          <p:cNvPr id="13" name="KPI card 4"/>
          <p:cNvSpPr/>
          <p:nvPr/>
        </p:nvSpPr>
        <p:spPr>
          <a:xfrm>
            <a:off x="7296912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PI value 4"/>
          <p:cNvSpPr txBox="1"/>
          <p:nvPr/>
        </p:nvSpPr>
        <p:spPr>
          <a:xfrm>
            <a:off x="7296912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5,873</a:t>
            </a:r>
            <a:endParaRPr lang="en-US" sz="2600" dirty="0"/>
          </a:p>
        </p:txBody>
      </p:sp>
      <p:sp>
        <p:nvSpPr>
          <p:cNvPr id="15" name="KPI label 4"/>
          <p:cNvSpPr txBox="1"/>
          <p:nvPr/>
        </p:nvSpPr>
        <p:spPr>
          <a:xfrm>
            <a:off x="7296912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Orders</a:t>
            </a:r>
            <a:endParaRPr lang="en-US" sz="1200" dirty="0"/>
          </a:p>
        </p:txBody>
      </p:sp>
      <p:sp>
        <p:nvSpPr>
          <p:cNvPr id="16" name="KPI card 5"/>
          <p:cNvSpPr/>
          <p:nvPr/>
        </p:nvSpPr>
        <p:spPr>
          <a:xfrm>
            <a:off x="9546336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KPI value 5"/>
          <p:cNvSpPr txBox="1"/>
          <p:nvPr/>
        </p:nvSpPr>
        <p:spPr>
          <a:xfrm>
            <a:off x="9546336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€109.05</a:t>
            </a:r>
            <a:endParaRPr lang="en-US" sz="2600" dirty="0"/>
          </a:p>
        </p:txBody>
      </p:sp>
      <p:sp>
        <p:nvSpPr>
          <p:cNvPr id="18" name="KPI label 5"/>
          <p:cNvSpPr txBox="1"/>
          <p:nvPr/>
        </p:nvSpPr>
        <p:spPr>
          <a:xfrm>
            <a:off x="9546336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Average order value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65176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margin % by category</a:t>
            </a:r>
            <a:endParaRPr lang="en-US" sz="16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3017520"/>
          <a:ext cx="5852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Findings card"/>
          <p:cNvSpPr/>
          <p:nvPr/>
        </p:nvSpPr>
        <p:spPr>
          <a:xfrm>
            <a:off x="6675120" y="2651760"/>
            <a:ext cx="4937760" cy="36118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49440" y="27889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</a:t>
            </a:r>
            <a:endParaRPr lang="en-US" sz="1800" dirty="0"/>
          </a:p>
        </p:txBody>
      </p:sp>
      <p:sp>
        <p:nvSpPr>
          <p:cNvPr id="23" name="Findings text"/>
          <p:cNvSpPr txBox="1"/>
          <p:nvPr/>
        </p:nvSpPr>
        <p:spPr>
          <a:xfrm>
            <a:off x="6949440" y="3200400"/>
            <a:ext cx="4389120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Healthy overall margin. </a:t>
            </a:r>
            <a:r>
              <a:rPr lang="en-US" sz="1400" dirty="0">
                <a:solidFill>
                  <a:schemeClr val="tx1"/>
                </a:solidFill>
              </a:rPr>
              <a:t>€127.65K contribution on €640.42K net sales (19.42%).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Growth with better margin. </a:t>
            </a:r>
            <a:r>
              <a:rPr lang="en-US" sz="1400" dirty="0">
                <a:solidFill>
                  <a:schemeClr val="tx1"/>
                </a:solidFill>
              </a:rPr>
              <a:t>Sales climbed to a 2025 Q3 peak with margin % rising; 2025 Q4 dipped and needs a check.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Category margin is uneven. </a:t>
            </a:r>
            <a:r>
              <a:rPr lang="en-US" sz="1400" dirty="0">
                <a:solidFill>
                  <a:schemeClr val="tx1"/>
                </a:solidFill>
              </a:rPr>
              <a:t>Beauty earns 46.34%, Electronics only 2.83%.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Region mix matters. </a:t>
            </a:r>
            <a:r>
              <a:rPr lang="en-US" sz="1400" dirty="0">
                <a:solidFill>
                  <a:schemeClr val="tx1"/>
                </a:solidFill>
              </a:rPr>
              <a:t>Western Europe is largest; Baltics and Central Europe earn roughly half the margin of other regions (approx.).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Page 1: questions each visual answers</a:t>
            </a:r>
            <a:endParaRPr lang="en-US" sz="3000" dirty="0"/>
          </a:p>
        </p:txBody>
      </p:sp>
      <p:graphicFrame>
        <p:nvGraphicFramePr>
          <p:cNvPr id="6" name="Questions table"/>
          <p:cNvGraphicFramePr>
            <a:graphicFrameLocks noGrp="1"/>
          </p:cNvGraphicFramePr>
          <p:nvPr/>
        </p:nvGraphicFramePr>
        <p:xfrm>
          <a:off x="548640" y="1417320"/>
          <a:ext cx="11064240" cy="521208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3566160"/>
                <a:gridCol w="1737360"/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Dashboard visual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 question it answers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takeaway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stakeholders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KPI cards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How big is the business and how profitable is it?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€640.42K sales, 19.42% margin, 5,873 orders at €109.05 average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CEO, CFO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Net sales and margin % by quarter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Is the business growing, and is growth getting more profitable?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Sales rose to a 2025 Q3 peak; margin % trended up; Q4 2025 dipped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CEO, Finance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Net sales by department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department carries the revenue?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Personal &amp; Lifestyle 67.16%, Home &amp; Living 32.84%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Merchandising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Margin % by category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categories make money and which do not?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Beauty 46.34% vs Electronics 2.83%, a 43-point gap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Category managers, Finance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Net sales by region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markets are largest and are they profitable?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Western Europe leads sales; Baltics and Central Europe margins are weakest (approx.)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Regional heads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Page 2: Product &amp; Customer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Promotions and a handful of tech products are eroding contribution margin</a:t>
            </a:r>
            <a:endParaRPr lang="en-US" sz="1500" dirty="0"/>
          </a:p>
        </p:txBody>
      </p:sp>
      <p:sp>
        <p:nvSpPr>
          <p:cNvPr id="4" name="KPI card 1"/>
          <p:cNvSpPr/>
          <p:nvPr/>
        </p:nvSpPr>
        <p:spPr>
          <a:xfrm>
            <a:off x="548640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 value 1"/>
          <p:cNvSpPr txBox="1"/>
          <p:nvPr/>
        </p:nvSpPr>
        <p:spPr>
          <a:xfrm>
            <a:off x="548640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€640.42K</a:t>
            </a:r>
            <a:endParaRPr lang="en-US" sz="2600" dirty="0"/>
          </a:p>
        </p:txBody>
      </p:sp>
      <p:sp>
        <p:nvSpPr>
          <p:cNvPr id="6" name="KPI label 1"/>
          <p:cNvSpPr txBox="1"/>
          <p:nvPr/>
        </p:nvSpPr>
        <p:spPr>
          <a:xfrm>
            <a:off x="548640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Net sales</a:t>
            </a:r>
            <a:endParaRPr lang="en-US" sz="1200" dirty="0"/>
          </a:p>
        </p:txBody>
      </p:sp>
      <p:sp>
        <p:nvSpPr>
          <p:cNvPr id="7" name="KPI card 2"/>
          <p:cNvSpPr/>
          <p:nvPr/>
        </p:nvSpPr>
        <p:spPr>
          <a:xfrm>
            <a:off x="2798064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PI value 2"/>
          <p:cNvSpPr txBox="1"/>
          <p:nvPr/>
        </p:nvSpPr>
        <p:spPr>
          <a:xfrm>
            <a:off x="2798064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€127.65K</a:t>
            </a:r>
            <a:endParaRPr lang="en-US" sz="2600" dirty="0"/>
          </a:p>
        </p:txBody>
      </p:sp>
      <p:sp>
        <p:nvSpPr>
          <p:cNvPr id="9" name="KPI label 2"/>
          <p:cNvSpPr txBox="1"/>
          <p:nvPr/>
        </p:nvSpPr>
        <p:spPr>
          <a:xfrm>
            <a:off x="2798064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Contribution margin</a:t>
            </a:r>
            <a:endParaRPr lang="en-US" sz="1200" dirty="0"/>
          </a:p>
        </p:txBody>
      </p:sp>
      <p:sp>
        <p:nvSpPr>
          <p:cNvPr id="10" name="KPI card 3"/>
          <p:cNvSpPr/>
          <p:nvPr/>
        </p:nvSpPr>
        <p:spPr>
          <a:xfrm>
            <a:off x="5047488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PI value 3"/>
          <p:cNvSpPr txBox="1"/>
          <p:nvPr/>
        </p:nvSpPr>
        <p:spPr>
          <a:xfrm>
            <a:off x="5047488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19.42%</a:t>
            </a:r>
            <a:endParaRPr lang="en-US" sz="2600" dirty="0"/>
          </a:p>
        </p:txBody>
      </p:sp>
      <p:sp>
        <p:nvSpPr>
          <p:cNvPr id="12" name="KPI label 3"/>
          <p:cNvSpPr txBox="1"/>
          <p:nvPr/>
        </p:nvSpPr>
        <p:spPr>
          <a:xfrm>
            <a:off x="5047488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Contribution margin %</a:t>
            </a:r>
            <a:endParaRPr lang="en-US" sz="1200" dirty="0"/>
          </a:p>
        </p:txBody>
      </p:sp>
      <p:sp>
        <p:nvSpPr>
          <p:cNvPr id="13" name="KPI card 4"/>
          <p:cNvSpPr/>
          <p:nvPr/>
        </p:nvSpPr>
        <p:spPr>
          <a:xfrm>
            <a:off x="7296912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PI value 4"/>
          <p:cNvSpPr txBox="1"/>
          <p:nvPr/>
        </p:nvSpPr>
        <p:spPr>
          <a:xfrm>
            <a:off x="7296912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1,099</a:t>
            </a:r>
            <a:endParaRPr lang="en-US" sz="2600" dirty="0"/>
          </a:p>
        </p:txBody>
      </p:sp>
      <p:sp>
        <p:nvSpPr>
          <p:cNvPr id="15" name="KPI label 4"/>
          <p:cNvSpPr txBox="1"/>
          <p:nvPr/>
        </p:nvSpPr>
        <p:spPr>
          <a:xfrm>
            <a:off x="7296912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Returned units</a:t>
            </a:r>
            <a:endParaRPr lang="en-US" sz="1200" dirty="0"/>
          </a:p>
        </p:txBody>
      </p:sp>
      <p:sp>
        <p:nvSpPr>
          <p:cNvPr id="16" name="KPI card 5"/>
          <p:cNvSpPr/>
          <p:nvPr/>
        </p:nvSpPr>
        <p:spPr>
          <a:xfrm>
            <a:off x="9546336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KPI value 5"/>
          <p:cNvSpPr txBox="1"/>
          <p:nvPr/>
        </p:nvSpPr>
        <p:spPr>
          <a:xfrm>
            <a:off x="9546336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10.04%</a:t>
            </a:r>
            <a:endParaRPr lang="en-US" sz="2600" dirty="0"/>
          </a:p>
        </p:txBody>
      </p:sp>
      <p:sp>
        <p:nvSpPr>
          <p:cNvPr id="18" name="KPI label 5"/>
          <p:cNvSpPr txBox="1"/>
          <p:nvPr/>
        </p:nvSpPr>
        <p:spPr>
          <a:xfrm>
            <a:off x="9546336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Return rate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65176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contribution margin %</a:t>
            </a:r>
            <a:endParaRPr lang="en-US" sz="16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3017520"/>
          <a:ext cx="5852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Findings card"/>
          <p:cNvSpPr/>
          <p:nvPr/>
        </p:nvSpPr>
        <p:spPr>
          <a:xfrm>
            <a:off x="6675120" y="2651760"/>
            <a:ext cx="4937760" cy="36118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49440" y="27889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</a:t>
            </a:r>
            <a:endParaRPr lang="en-US" sz="1800" dirty="0"/>
          </a:p>
        </p:txBody>
      </p:sp>
      <p:sp>
        <p:nvSpPr>
          <p:cNvPr id="23" name="Findings text"/>
          <p:cNvSpPr txBox="1"/>
          <p:nvPr/>
        </p:nvSpPr>
        <p:spPr>
          <a:xfrm>
            <a:off x="6949440" y="3200400"/>
            <a:ext cx="4389120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Deep discounts destroy margin. </a:t>
            </a:r>
            <a:r>
              <a:rPr lang="en-US" sz="1400" dirty="0">
                <a:solidFill>
                  <a:schemeClr val="tx1"/>
                </a:solidFill>
              </a:rPr>
              <a:t>Clearance 35% loses money (-11.57%); Weekend Flash 25% keeps just 1.39%.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Loyalty and VIP deliver. </a:t>
            </a:r>
            <a:r>
              <a:rPr lang="en-US" sz="1400" dirty="0">
                <a:solidFill>
                  <a:schemeClr val="tx1"/>
                </a:solidFill>
              </a:rPr>
              <a:t>26.19% and 22.30% margin on only 10-12% discounts.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Not every product pays its way. </a:t>
            </a:r>
            <a:r>
              <a:rPr lang="en-US" sz="1400" dirty="0">
                <a:solidFill>
                  <a:schemeClr val="tx1"/>
                </a:solidFill>
              </a:rPr>
              <a:t>Smart Home Elite (-0.93%) and Smart Home Plus (-2.91%) lose money; Wearables sit near 1%.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Returns hit the weakest products. </a:t>
            </a:r>
            <a:r>
              <a:rPr lang="en-US" sz="1400" dirty="0">
                <a:solidFill>
                  <a:schemeClr val="tx1"/>
                </a:solidFill>
              </a:rPr>
              <a:t>Smart Home Elite has a 12.24% return rate, above the 10.04% average.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Page 2: questions each visual answers</a:t>
            </a:r>
            <a:endParaRPr lang="en-US" sz="3000" dirty="0"/>
          </a:p>
        </p:txBody>
      </p:sp>
      <p:graphicFrame>
        <p:nvGraphicFramePr>
          <p:cNvPr id="8" name="Questions table"/>
          <p:cNvGraphicFramePr>
            <a:graphicFrameLocks noGrp="1"/>
          </p:cNvGraphicFramePr>
          <p:nvPr/>
        </p:nvGraphicFramePr>
        <p:xfrm>
          <a:off x="548640" y="1417320"/>
          <a:ext cx="11064240" cy="521208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3566160"/>
                <a:gridCol w="1737360"/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Dashboard visual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 question it answers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takeaway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stakeholders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KPI cards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How do returns relate to overall profitability?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1,099 units returned; 10.04% return rate against 19.42% margin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Finance, Operations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Margin % by category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Does category margin hold up when filtered by year or department?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Same ranking as Page 1: Beauty on top, Electronics at 2.83%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Category managers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Campaign contribution margin table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promotions make or lose money after discounting?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Clearance 35% at -11.57%; Weekend Flash 25% at 1.39%; Loyalty 10% at 26.19%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Marketing, Finance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Product contribution margin table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products are profitable and which have high returns?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Smart Home Elite and Plus are loss-making; Wearables earn about 1%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Merchandising, Pricing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Year and department slicers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How does performance differ by period and department?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Compare 2024 vs 2025 and Home &amp; Living vs Personal &amp; Lifestyle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All viewers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Page 3: Returns &amp; Operations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Returns drive heavy losses, concentrated in Fashion and Electronics</a:t>
            </a:r>
            <a:endParaRPr lang="en-US" sz="1500" dirty="0"/>
          </a:p>
        </p:txBody>
      </p:sp>
      <p:sp>
        <p:nvSpPr>
          <p:cNvPr id="4" name="KPI card 1"/>
          <p:cNvSpPr/>
          <p:nvPr/>
        </p:nvSpPr>
        <p:spPr>
          <a:xfrm>
            <a:off x="548640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 value 1"/>
          <p:cNvSpPr txBox="1"/>
          <p:nvPr/>
        </p:nvSpPr>
        <p:spPr>
          <a:xfrm>
            <a:off x="548640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10.04%</a:t>
            </a:r>
            <a:endParaRPr lang="en-US" sz="2600" dirty="0"/>
          </a:p>
        </p:txBody>
      </p:sp>
      <p:sp>
        <p:nvSpPr>
          <p:cNvPr id="6" name="KPI label 1"/>
          <p:cNvSpPr txBox="1"/>
          <p:nvPr/>
        </p:nvSpPr>
        <p:spPr>
          <a:xfrm>
            <a:off x="548640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Return rate</a:t>
            </a:r>
            <a:endParaRPr lang="en-US" sz="1200" dirty="0"/>
          </a:p>
        </p:txBody>
      </p:sp>
      <p:sp>
        <p:nvSpPr>
          <p:cNvPr id="7" name="KPI card 2"/>
          <p:cNvSpPr/>
          <p:nvPr/>
        </p:nvSpPr>
        <p:spPr>
          <a:xfrm>
            <a:off x="2798064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PI value 2"/>
          <p:cNvSpPr txBox="1"/>
          <p:nvPr/>
        </p:nvSpPr>
        <p:spPr>
          <a:xfrm>
            <a:off x="2798064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€102.90K</a:t>
            </a:r>
            <a:endParaRPr lang="en-US" sz="2600" dirty="0"/>
          </a:p>
        </p:txBody>
      </p:sp>
      <p:sp>
        <p:nvSpPr>
          <p:cNvPr id="9" name="KPI label 2"/>
          <p:cNvSpPr txBox="1"/>
          <p:nvPr/>
        </p:nvSpPr>
        <p:spPr>
          <a:xfrm>
            <a:off x="2798064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Return loss</a:t>
            </a:r>
            <a:endParaRPr lang="en-US" sz="1200" dirty="0"/>
          </a:p>
        </p:txBody>
      </p:sp>
      <p:sp>
        <p:nvSpPr>
          <p:cNvPr id="10" name="KPI card 3"/>
          <p:cNvSpPr/>
          <p:nvPr/>
        </p:nvSpPr>
        <p:spPr>
          <a:xfrm>
            <a:off x="5047488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PI value 3"/>
          <p:cNvSpPr txBox="1"/>
          <p:nvPr/>
        </p:nvSpPr>
        <p:spPr>
          <a:xfrm>
            <a:off x="5047488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92.75%</a:t>
            </a:r>
            <a:endParaRPr lang="en-US" sz="2600" dirty="0"/>
          </a:p>
        </p:txBody>
      </p:sp>
      <p:sp>
        <p:nvSpPr>
          <p:cNvPr id="12" name="KPI label 3"/>
          <p:cNvSpPr txBox="1"/>
          <p:nvPr/>
        </p:nvSpPr>
        <p:spPr>
          <a:xfrm>
            <a:off x="5047488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On-time delivery</a:t>
            </a:r>
            <a:endParaRPr lang="en-US" sz="1200" dirty="0"/>
          </a:p>
        </p:txBody>
      </p:sp>
      <p:sp>
        <p:nvSpPr>
          <p:cNvPr id="13" name="KPI card 4"/>
          <p:cNvSpPr/>
          <p:nvPr/>
        </p:nvSpPr>
        <p:spPr>
          <a:xfrm>
            <a:off x="7296912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PI value 4"/>
          <p:cNvSpPr txBox="1"/>
          <p:nvPr/>
        </p:nvSpPr>
        <p:spPr>
          <a:xfrm>
            <a:off x="7296912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days</a:t>
            </a:r>
            <a:endParaRPr lang="en-US" sz="2600" dirty="0"/>
          </a:p>
        </p:txBody>
      </p:sp>
      <p:sp>
        <p:nvSpPr>
          <p:cNvPr id="15" name="KPI label 4"/>
          <p:cNvSpPr txBox="1"/>
          <p:nvPr/>
        </p:nvSpPr>
        <p:spPr>
          <a:xfrm>
            <a:off x="7296912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Avg. delivery time</a:t>
            </a:r>
            <a:endParaRPr lang="en-US" sz="1200" dirty="0"/>
          </a:p>
        </p:txBody>
      </p:sp>
      <p:sp>
        <p:nvSpPr>
          <p:cNvPr id="16" name="KPI card 5"/>
          <p:cNvSpPr/>
          <p:nvPr/>
        </p:nvSpPr>
        <p:spPr>
          <a:xfrm>
            <a:off x="9546336" y="1417320"/>
            <a:ext cx="2066544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KPI value 5"/>
          <p:cNvSpPr txBox="1"/>
          <p:nvPr/>
        </p:nvSpPr>
        <p:spPr>
          <a:xfrm>
            <a:off x="9546336" y="1536192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€17.09K</a:t>
            </a:r>
            <a:endParaRPr lang="en-US" sz="2600" dirty="0"/>
          </a:p>
        </p:txBody>
      </p:sp>
      <p:sp>
        <p:nvSpPr>
          <p:cNvPr id="18" name="KPI label 5"/>
          <p:cNvSpPr txBox="1"/>
          <p:nvPr/>
        </p:nvSpPr>
        <p:spPr>
          <a:xfrm>
            <a:off x="9546336" y="2011680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Fulfilment cost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65176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Returned units by reason</a:t>
            </a:r>
            <a:endParaRPr lang="en-US" sz="16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3017520"/>
          <a:ext cx="5852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Findings card"/>
          <p:cNvSpPr/>
          <p:nvPr/>
        </p:nvSpPr>
        <p:spPr>
          <a:xfrm>
            <a:off x="6675120" y="2651760"/>
            <a:ext cx="4937760" cy="36118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49440" y="27889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</a:t>
            </a:r>
            <a:endParaRPr lang="en-US" sz="1800" dirty="0"/>
          </a:p>
        </p:txBody>
      </p:sp>
      <p:sp>
        <p:nvSpPr>
          <p:cNvPr id="23" name="Findings text"/>
          <p:cNvSpPr txBox="1"/>
          <p:nvPr/>
        </p:nvSpPr>
        <p:spPr>
          <a:xfrm>
            <a:off x="6949440" y="3200400"/>
            <a:ext cx="4389120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Returns are costly. </a:t>
            </a:r>
            <a:r>
              <a:rPr lang="en-US" sz="1400" dirty="0">
                <a:solidFill>
                  <a:schemeClr val="tx1"/>
                </a:solidFill>
              </a:rPr>
              <a:t>€102.90K return loss from 1,099 returned units.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Most reasons are fixable. </a:t>
            </a:r>
            <a:r>
              <a:rPr lang="en-US" sz="1400" dirty="0">
                <a:solidFill>
                  <a:schemeClr val="tx1"/>
                </a:solidFill>
              </a:rPr>
              <a:t>Size/fit (271), not as described (183), defective (134) and damaged (130) are addressable; changed mind (292) is largest.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Fashion drives volume, Electronics drives value. </a:t>
            </a:r>
            <a:r>
              <a:rPr lang="en-US" sz="1400" dirty="0">
                <a:solidFill>
                  <a:schemeClr val="tx1"/>
                </a:solidFill>
              </a:rPr>
              <a:t>Fashion has the most returned units; Electronics shows the second-highest loss (approx.).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Delivery is solid but uneven. </a:t>
            </a:r>
            <a:r>
              <a:rPr lang="en-US" sz="1400" dirty="0">
                <a:solidFill>
                  <a:schemeClr val="tx1"/>
                </a:solidFill>
              </a:rPr>
              <a:t>92.75% on time overall; 3PL lags at 88% against 96% for the owned network.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Page 3: questions each visual answers</a:t>
            </a:r>
            <a:endParaRPr lang="en-US" sz="3000" dirty="0"/>
          </a:p>
        </p:txBody>
      </p:sp>
      <p:graphicFrame>
        <p:nvGraphicFramePr>
          <p:cNvPr id="10" name="Questions table"/>
          <p:cNvGraphicFramePr>
            <a:graphicFrameLocks noGrp="1"/>
          </p:cNvGraphicFramePr>
          <p:nvPr/>
        </p:nvGraphicFramePr>
        <p:xfrm>
          <a:off x="548640" y="1417320"/>
          <a:ext cx="11064240" cy="521208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3566160"/>
                <a:gridCol w="1737360"/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Dashboard visual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 question it answers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takeaway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stakeholders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KPI cards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What are returns and delivery costing us?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10.04% return rate, €102.90K loss, 92.75% on time, 3-day delivery, €17.09K fulfilment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COO, Finance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Return reasons driving loss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Why do customers return, and which reason matters most?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Changed mind (292) and size/fit (271) lead; damage and defects total 264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Customer Experience, Merchandising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Returned units and return loss by category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categories generate the most returns and loss?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Fashion has most units; Electronics has high loss per unit (approx.)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Category managers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Net sales by sales channel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Where do customers buy?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Website 52.66%, Mobile App 20.8%, Marketplace 16.51%, Social Shop 10.04%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Channel managers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On-time delivery by fulfilment model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fulfilment model delivers best?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Owned network 96%, Marketplace 90%, 3PL 88%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Logistics, Operations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Page 4: Inventory Health &amp; Revenue Protection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Stock-outs in Electronics put the most revenue at risk</a:t>
            </a:r>
            <a:endParaRPr lang="en-US" sz="1500" dirty="0"/>
          </a:p>
        </p:txBody>
      </p:sp>
      <p:sp>
        <p:nvSpPr>
          <p:cNvPr id="4" name="KPI card 1"/>
          <p:cNvSpPr/>
          <p:nvPr/>
        </p:nvSpPr>
        <p:spPr>
          <a:xfrm>
            <a:off x="548640" y="1417320"/>
            <a:ext cx="26289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 value 1"/>
          <p:cNvSpPr txBox="1"/>
          <p:nvPr/>
        </p:nvSpPr>
        <p:spPr>
          <a:xfrm>
            <a:off x="548640" y="1536192"/>
            <a:ext cx="26289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11,449</a:t>
            </a:r>
            <a:endParaRPr lang="en-US" sz="2600" dirty="0"/>
          </a:p>
        </p:txBody>
      </p:sp>
      <p:sp>
        <p:nvSpPr>
          <p:cNvPr id="6" name="KPI label 1"/>
          <p:cNvSpPr txBox="1"/>
          <p:nvPr/>
        </p:nvSpPr>
        <p:spPr>
          <a:xfrm>
            <a:off x="548640" y="2011680"/>
            <a:ext cx="26289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Units ordered</a:t>
            </a:r>
            <a:endParaRPr lang="en-US" sz="1200" dirty="0"/>
          </a:p>
        </p:txBody>
      </p:sp>
      <p:sp>
        <p:nvSpPr>
          <p:cNvPr id="7" name="KPI card 2"/>
          <p:cNvSpPr/>
          <p:nvPr/>
        </p:nvSpPr>
        <p:spPr>
          <a:xfrm>
            <a:off x="3360420" y="1417320"/>
            <a:ext cx="26289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PI value 2"/>
          <p:cNvSpPr txBox="1"/>
          <p:nvPr/>
        </p:nvSpPr>
        <p:spPr>
          <a:xfrm>
            <a:off x="3360420" y="1536192"/>
            <a:ext cx="26289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10,951</a:t>
            </a:r>
            <a:endParaRPr lang="en-US" sz="2600" dirty="0"/>
          </a:p>
        </p:txBody>
      </p:sp>
      <p:sp>
        <p:nvSpPr>
          <p:cNvPr id="9" name="KPI label 2"/>
          <p:cNvSpPr txBox="1"/>
          <p:nvPr/>
        </p:nvSpPr>
        <p:spPr>
          <a:xfrm>
            <a:off x="3360420" y="2011680"/>
            <a:ext cx="26289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Units fulfilled</a:t>
            </a:r>
            <a:endParaRPr lang="en-US" sz="1200" dirty="0"/>
          </a:p>
        </p:txBody>
      </p:sp>
      <p:sp>
        <p:nvSpPr>
          <p:cNvPr id="10" name="KPI card 3"/>
          <p:cNvSpPr/>
          <p:nvPr/>
        </p:nvSpPr>
        <p:spPr>
          <a:xfrm>
            <a:off x="6172200" y="1417320"/>
            <a:ext cx="26289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PI value 3"/>
          <p:cNvSpPr txBox="1"/>
          <p:nvPr/>
        </p:nvSpPr>
        <p:spPr>
          <a:xfrm>
            <a:off x="6172200" y="1536192"/>
            <a:ext cx="26289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498</a:t>
            </a:r>
            <a:endParaRPr lang="en-US" sz="2600" dirty="0"/>
          </a:p>
        </p:txBody>
      </p:sp>
      <p:sp>
        <p:nvSpPr>
          <p:cNvPr id="12" name="KPI label 3"/>
          <p:cNvSpPr txBox="1"/>
          <p:nvPr/>
        </p:nvSpPr>
        <p:spPr>
          <a:xfrm>
            <a:off x="6172200" y="2011680"/>
            <a:ext cx="26289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Units unfulfilled</a:t>
            </a:r>
            <a:endParaRPr lang="en-US" sz="1200" dirty="0"/>
          </a:p>
        </p:txBody>
      </p:sp>
      <p:sp>
        <p:nvSpPr>
          <p:cNvPr id="13" name="KPI card 4"/>
          <p:cNvSpPr/>
          <p:nvPr/>
        </p:nvSpPr>
        <p:spPr>
          <a:xfrm>
            <a:off x="8983980" y="1417320"/>
            <a:ext cx="26289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PI value 4"/>
          <p:cNvSpPr txBox="1"/>
          <p:nvPr/>
        </p:nvSpPr>
        <p:spPr>
          <a:xfrm>
            <a:off x="8983980" y="1536192"/>
            <a:ext cx="26289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€36.71K</a:t>
            </a:r>
            <a:endParaRPr lang="en-US" sz="2600" dirty="0"/>
          </a:p>
        </p:txBody>
      </p:sp>
      <p:sp>
        <p:nvSpPr>
          <p:cNvPr id="15" name="KPI label 4"/>
          <p:cNvSpPr txBox="1"/>
          <p:nvPr/>
        </p:nvSpPr>
        <p:spPr>
          <a:xfrm>
            <a:off x="8983980" y="2011680"/>
            <a:ext cx="26289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Lost sales value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5176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sales value by category (€)</a:t>
            </a:r>
            <a:endParaRPr lang="en-US" sz="16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017520"/>
          <a:ext cx="5852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Findings card"/>
          <p:cNvSpPr/>
          <p:nvPr/>
        </p:nvSpPr>
        <p:spPr>
          <a:xfrm>
            <a:off x="6675120" y="2651760"/>
            <a:ext cx="4937760" cy="36118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0" y="27889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</a:t>
            </a:r>
            <a:endParaRPr lang="en-US" sz="1800" dirty="0"/>
          </a:p>
        </p:txBody>
      </p:sp>
      <p:sp>
        <p:nvSpPr>
          <p:cNvPr id="20" name="Findings text"/>
          <p:cNvSpPr txBox="1"/>
          <p:nvPr/>
        </p:nvSpPr>
        <p:spPr>
          <a:xfrm>
            <a:off x="6949440" y="3200400"/>
            <a:ext cx="4389120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4.35% of demand went unfilled. </a:t>
            </a:r>
            <a:r>
              <a:rPr lang="en-US" sz="1400" dirty="0">
                <a:solidFill>
                  <a:schemeClr val="tx1"/>
                </a:solidFill>
              </a:rPr>
              <a:t>498 of 11,449 ordered units, worth €36.71K.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Electronics is hit hardest. </a:t>
            </a:r>
            <a:r>
              <a:rPr lang="en-US" sz="1400" dirty="0">
                <a:solidFill>
                  <a:schemeClr val="tx1"/>
                </a:solidFill>
              </a:rPr>
              <a:t>€18.69K lost, about 51% of the total, though at 2.83% margin the profit at stake is small.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Top lost SKUs are backordered tech. </a:t>
            </a:r>
            <a:r>
              <a:rPr lang="en-US" sz="1400" dirty="0">
                <a:solidFill>
                  <a:schemeClr val="tx1"/>
                </a:solidFill>
              </a:rPr>
              <a:t>Tech Audio Elite, Audio Pro and Smart Home Pro lead the list.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Two regions lead the gap. </a:t>
            </a:r>
            <a:r>
              <a:rPr lang="en-US" sz="1400" dirty="0">
                <a:solidFill>
                  <a:schemeClr val="tx1"/>
                </a:solidFill>
              </a:rPr>
              <a:t>Western Europe (155) and Baltics (109) account for 264 of 498 units.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Page 4: questions each visual answers</a:t>
            </a:r>
            <a:endParaRPr lang="en-US" sz="3000" dirty="0"/>
          </a:p>
        </p:txBody>
      </p:sp>
      <p:graphicFrame>
        <p:nvGraphicFramePr>
          <p:cNvPr id="12" name="Questions table"/>
          <p:cNvGraphicFramePr>
            <a:graphicFrameLocks noGrp="1"/>
          </p:cNvGraphicFramePr>
          <p:nvPr/>
        </p:nvGraphicFramePr>
        <p:xfrm>
          <a:off x="548640" y="1417320"/>
          <a:ext cx="11064240" cy="4992624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3566160"/>
                <a:gridCol w="1737360"/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Dashboard visual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 question it answers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takeaway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stakeholders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KPI cards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How much demand did we fail to serve?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11,449 ordered, 10,951 fulfilled, 498 unfulfilled; €36.71K lost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Inventory, Finance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Ordered vs fulfilled by quarter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Is supply keeping up with demand over time?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Fulfilment tracks demand closely; widest gap in 2025 Q4 (approx.)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Supply planning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Lost sales value by category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category loses the most revenue to stock-outs?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Electronics €18.69K, about half of all lost sales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Category managers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Ordered units by department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Where is demand concentrated?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Personal &amp; Lifestyle 67.46%, Home &amp; Living 32.54%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Merchandising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Unfulfilled units by region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regions suffer most from stock gaps?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Western Europe 155 and Baltics 109 of 498 units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Regional heads, Logistics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3326"/>
                          </a:solidFill>
                        </a:rPr>
                        <a:t>Product stock-status table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Which SKUs should be restocked first?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Audio Elite (€2,913), Audio Pro (€1,905), Smart Home Pro (€1,896)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3326"/>
                          </a:solidFill>
                        </a:rPr>
                        <a:t>Procurement</a:t>
                      </a:r>
                      <a:endParaRPr lang="en-US" sz="12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40170"/>
            <a:ext cx="3291840" cy="23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business scenarios across the pages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Each scenario links evidence from the dashboard to the stakeholder who can 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 profitability review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Marketing, Finance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Clearance 35% runs at -11.57% and Weekend Flash 25% at 1.39%, while Loyalty 10% earns 26.19%. Cap deep discounts and lean on loyalty and VIP offers.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002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turnaround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1168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Merchandising, Procurement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33172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2.83% margin, high return loss and 51% of lost sales. Reprice or fix quality first, and restock only the profitable SKUs.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returns reduction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Customer Experience, Merchandising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0060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Fashion has the most returned units and size/fit is the second-largest reason (271). Improve size guides and fit descriptions.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069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margin and fulfilment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48056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Regional heads, Operations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80060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Baltics and Central Europe earn roughly half the margin elsewhere, and Western Europe and Baltics hold 53% of unfulfilled units. 3PL on-time rate is 88%.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Recommended actions by stakeholder</a:t>
            </a:r>
            <a:endParaRPr lang="en-US" sz="3000" dirty="0"/>
          </a:p>
        </p:txBody>
      </p:sp>
      <p:graphicFrame>
        <p:nvGraphicFramePr>
          <p:cNvPr id="14" name="Recommendations table"/>
          <p:cNvGraphicFramePr>
            <a:graphicFrameLocks noGrp="1"/>
          </p:cNvGraphicFramePr>
          <p:nvPr/>
        </p:nvGraphicFramePr>
        <p:xfrm>
          <a:off x="548640" y="1280160"/>
          <a:ext cx="11064240" cy="4992624"/>
        </p:xfrm>
        <a:graphic>
          <a:graphicData uri="http://schemas.openxmlformats.org/drawingml/2006/table">
            <a:tbl>
              <a:tblPr/>
              <a:tblGrid>
                <a:gridCol w="2468880"/>
                <a:gridCol w="5303520"/>
                <a:gridCol w="3291840"/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Priority action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KPI to monitor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3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3326"/>
                          </a:solidFill>
                        </a:rPr>
                        <a:t>CEO / Leadership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Set margin-first growth targets by category and region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Net sales growth, margin %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3326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Review promo-driven margin loss and return loss monthly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Contribution margin, return loss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3326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Redesign Clearance 35% and Weekend Flash 25%; scale Loyalty and VIP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Campaign margin %, discount %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3326"/>
                          </a:solidFill>
                        </a:rPr>
                        <a:t>Merchandising / Pricing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Review Electronics pricing and cost; fix loss-making Smart Home SKUs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Product margin %, return rate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3326"/>
                          </a:solidFill>
                        </a:rPr>
                        <a:t>Operations / CX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Improve size and fit guidance and packaging; shift volume to stronger fulfilment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Return rate, on-time delivery %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3326"/>
                          </a:solidFill>
                        </a:rPr>
                        <a:t>Inventory / Procurement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Restock backordered tech SKUs by lost value; focus on Western Europe and Baltics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3326"/>
                          </a:solidFill>
                        </a:rPr>
                        <a:t>Unfulfilled units, lost sales value</a:t>
                      </a:r>
                      <a:endParaRPr lang="en-US" sz="13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42970" y="1156335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63010" y="1384935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next steps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763010" y="2025015"/>
            <a:ext cx="480060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a campaign by category margin drill-through.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 return rate by product and reason in one view.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days-of-cover or stock-out reason to the Inventory page.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Set margin thresholds with conditional formatting for campaigns.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8640" y="6400800"/>
            <a:ext cx="329184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mGreen">
  <a:themeElements>
    <a:clrScheme name="EcomGreen">
      <a:dk1>
        <a:srgbClr val="143326"/>
      </a:dk1>
      <a:lt1>
        <a:srgbClr val="FFFFFF"/>
      </a:lt1>
      <a:dk2>
        <a:srgbClr val="2B5D47"/>
      </a:dk2>
      <a:lt2>
        <a:srgbClr val="EAF1EE"/>
      </a:lt2>
      <a:accent1>
        <a:srgbClr val="2E9E6B"/>
      </a:accent1>
      <a:accent2>
        <a:srgbClr val="6DD5A5"/>
      </a:accent2>
      <a:accent3>
        <a:srgbClr val="C0392B"/>
      </a:accent3>
      <a:accent4>
        <a:srgbClr val="E0A030"/>
      </a:accent4>
      <a:accent5>
        <a:srgbClr val="5B7C8D"/>
      </a:accent5>
      <a:accent6>
        <a:srgbClr val="8FB7A3"/>
      </a:accent6>
      <a:hlink>
        <a:srgbClr val="2E9E6B"/>
      </a:hlink>
      <a:folHlink>
        <a:srgbClr val="5B7C8D"/>
      </a:folHlink>
    </a:clrScheme>
    <a:fontScheme name="Ecom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comGreen">
  <a:themeElements>
    <a:clrScheme name="EcomGreen">
      <a:dk1>
        <a:srgbClr val="143326"/>
      </a:dk1>
      <a:lt1>
        <a:srgbClr val="FFFFFF"/>
      </a:lt1>
      <a:dk2>
        <a:srgbClr val="2B5D47"/>
      </a:dk2>
      <a:lt2>
        <a:srgbClr val="EAF1EE"/>
      </a:lt2>
      <a:accent1>
        <a:srgbClr val="2E9E6B"/>
      </a:accent1>
      <a:accent2>
        <a:srgbClr val="6DD5A5"/>
      </a:accent2>
      <a:accent3>
        <a:srgbClr val="C0392B"/>
      </a:accent3>
      <a:accent4>
        <a:srgbClr val="E0A030"/>
      </a:accent4>
      <a:accent5>
        <a:srgbClr val="5B7C8D"/>
      </a:accent5>
      <a:accent6>
        <a:srgbClr val="8FB7A3"/>
      </a:accent6>
      <a:hlink>
        <a:srgbClr val="2E9E6B"/>
      </a:hlink>
      <a:folHlink>
        <a:srgbClr val="5B7C8D"/>
      </a:folHlink>
    </a:clrScheme>
    <a:fontScheme name="Ecom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9626</Words>
  <Application>WPS Presentation</Application>
  <PresentationFormat>On-screen Show (16:9)</PresentationFormat>
  <Paragraphs>561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SimSun</vt:lpstr>
      <vt:lpstr>Wingdings</vt:lpstr>
      <vt:lpstr>Cambria</vt:lpstr>
      <vt:lpstr>苹方-简</vt:lpstr>
      <vt:lpstr>Cambria</vt:lpstr>
      <vt:lpstr>Cambria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EcomGreen</vt:lpstr>
      <vt:lpstr>PowerPoint 演示文稿</vt:lpstr>
      <vt:lpstr>Executive summary</vt:lpstr>
      <vt:lpstr>Who each dashboard page is for</vt:lpstr>
      <vt:lpstr>Page 1: Executive Performance</vt:lpstr>
      <vt:lpstr>Page 1: questions each visual answers</vt:lpstr>
      <vt:lpstr>Page 2: Product &amp; Customer</vt:lpstr>
      <vt:lpstr>Page 2: questions each visual answers</vt:lpstr>
      <vt:lpstr>Page 3: Returns &amp; Operations</vt:lpstr>
      <vt:lpstr>Page 3: questions each visual answers</vt:lpstr>
      <vt:lpstr>Page 4: Inventory Health &amp; Revenue Protection</vt:lpstr>
      <vt:lpstr>Page 4: questions each visual answers</vt:lpstr>
      <vt:lpstr>Four business scenarios across the pages</vt:lpstr>
      <vt:lpstr>Recommended actions by stakeholder</vt:lpstr>
      <vt:lpstr>Reading notes and next steps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Performance &amp; Profitability Analysis</dc:title>
  <dc:creator>Samuel Sholademi</dc:creator>
  <dc:subject>PptxGenJS Presentation</dc:subject>
  <cp:lastModifiedBy>Samuel Sholademi</cp:lastModifiedBy>
  <cp:revision>2</cp:revision>
  <dcterms:created xsi:type="dcterms:W3CDTF">2026-10-03T14:14:01Z</dcterms:created>
  <dcterms:modified xsi:type="dcterms:W3CDTF">2026-10-03T14:14:01Z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1033-12.1.25880.25880</vt:lpwstr>
  </property>
  <property fmtid="{D5CDD505-2E9C-101B-9397-08002B2CF9AE}" pid="3" name="ICV">
    <vt:lpwstr>B8C9C8AEAE38EA0EA90DC16A53216B5E_42</vt:lpwstr>
  </property>
</Properties>
</file>